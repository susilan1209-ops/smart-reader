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9"/>
  </p:notesMasterIdLst>
  <p:handoutMasterIdLst>
    <p:handoutMasterId r:id="rId10"/>
  </p:handoutMasterIdLst>
  <p:sldIdLst>
    <p:sldId id="257" r:id="rId3"/>
    <p:sldId id="256" r:id="rId4"/>
    <p:sldId id="258" r:id="rId5"/>
    <p:sldId id="259" r:id="rId6"/>
    <p:sldId id="260" r:id="rId7"/>
    <p:sldId id="261" r:id="rId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9" userDrawn="1">
          <p15:clr>
            <a:srgbClr val="A4A3A4"/>
          </p15:clr>
        </p15:guide>
        <p15:guide id="2" pos="383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39"/>
        <p:guide pos="3836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notesMaster" Target="notesMasters/notesMaster1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3" Type="http://schemas.openxmlformats.org/officeDocument/2006/relationships/tableStyles" Target="tableStyles.xml"/><Relationship Id="rId12" Type="http://schemas.openxmlformats.org/officeDocument/2006/relationships/viewProps" Target="viewProps.xml"/><Relationship Id="rId11" Type="http://schemas.openxmlformats.org/officeDocument/2006/relationships/presProps" Target="presProps.xml"/><Relationship Id="rId1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04000"/>
            <a:ext cx="5342400" cy="4140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04000"/>
            <a:ext cx="5342400" cy="4140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397600"/>
            <a:ext cx="9799200" cy="11052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5040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ea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9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9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9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9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64.xml"/><Relationship Id="rId1" Type="http://schemas.openxmlformats.org/officeDocument/2006/relationships/tags" Target="../tags/tag6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65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68.xml"/><Relationship Id="rId2" Type="http://schemas.openxmlformats.org/officeDocument/2006/relationships/tags" Target="../tags/tag67.xml"/><Relationship Id="rId1" Type="http://schemas.openxmlformats.org/officeDocument/2006/relationships/tags" Target="../tags/tag66.xml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71.xml"/><Relationship Id="rId2" Type="http://schemas.openxmlformats.org/officeDocument/2006/relationships/tags" Target="../tags/tag70.xml"/><Relationship Id="rId1" Type="http://schemas.openxmlformats.org/officeDocument/2006/relationships/tags" Target="../tags/tag69.xml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74.xml"/><Relationship Id="rId2" Type="http://schemas.openxmlformats.org/officeDocument/2006/relationships/tags" Target="../tags/tag73.xml"/><Relationship Id="rId1" Type="http://schemas.openxmlformats.org/officeDocument/2006/relationships/tags" Target="../tags/tag7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7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86505" y="1811725"/>
            <a:ext cx="10969200" cy="705600"/>
          </a:xfrm>
        </p:spPr>
        <p:txBody>
          <a:bodyPr>
            <a:normAutofit fontScale="90000"/>
          </a:bodyPr>
          <a:p>
            <a:r>
              <a:rPr lang="zh-CN" altLang="en-US" sz="4890">
                <a:solidFill>
                  <a:schemeClr val="accent1"/>
                </a:solidFill>
              </a:rPr>
              <a:t>面向低识字老年群体的智能视觉文字辅助</a:t>
            </a:r>
            <a:r>
              <a:rPr lang="en-US" altLang="zh-CN" sz="4890">
                <a:solidFill>
                  <a:schemeClr val="accent1"/>
                </a:solidFill>
              </a:rPr>
              <a:t>    				</a:t>
            </a:r>
            <a:r>
              <a:rPr lang="zh-CN" altLang="en-US" sz="4890">
                <a:solidFill>
                  <a:schemeClr val="accent1"/>
                </a:solidFill>
              </a:rPr>
              <a:t>阅读终端开发</a:t>
            </a:r>
            <a:endParaRPr lang="zh-CN" altLang="en-US" sz="4890">
              <a:solidFill>
                <a:schemeClr val="accent1"/>
              </a:solidFill>
            </a:endParaRPr>
          </a:p>
        </p:txBody>
      </p:sp>
      <p:sp>
        <p:nvSpPr>
          <p:cNvPr id="5" name="Text Box 4"/>
          <p:cNvSpPr txBox="1"/>
          <p:nvPr/>
        </p:nvSpPr>
        <p:spPr>
          <a:xfrm>
            <a:off x="3462655" y="408114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/>
          </a:p>
        </p:txBody>
      </p:sp>
    </p:spTree>
    <p:custDataLst>
      <p:tags r:id="rId2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3"/>
          <p:cNvSpPr txBox="1"/>
          <p:nvPr/>
        </p:nvSpPr>
        <p:spPr>
          <a:xfrm>
            <a:off x="2637790" y="721995"/>
            <a:ext cx="7298055" cy="6527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endParaRPr lang="en-US"/>
          </a:p>
        </p:txBody>
      </p:sp>
      <p:pic>
        <p:nvPicPr>
          <p:cNvPr id="6" name="Picture 5" descr="Screenshot 2026-10-24 at 10.09.1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20465" y="721995"/>
            <a:ext cx="5133340" cy="5899785"/>
          </a:xfrm>
          <a:prstGeom prst="rect">
            <a:avLst/>
          </a:prstGeom>
        </p:spPr>
      </p:pic>
      <p:sp>
        <p:nvSpPr>
          <p:cNvPr id="7" name="Text Box 6"/>
          <p:cNvSpPr txBox="1"/>
          <p:nvPr/>
        </p:nvSpPr>
        <p:spPr>
          <a:xfrm>
            <a:off x="538480" y="447040"/>
            <a:ext cx="406400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200">
                <a:solidFill>
                  <a:schemeClr val="accent1"/>
                </a:solidFill>
              </a:rPr>
              <a:t>流程图</a:t>
            </a:r>
            <a:endParaRPr lang="zh-CN" altLang="en-US" sz="3200">
              <a:solidFill>
                <a:schemeClr val="accent1"/>
              </a:solidFill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330" y="318770"/>
            <a:ext cx="3355975" cy="705485"/>
          </a:xfrm>
        </p:spPr>
        <p:txBody>
          <a:bodyPr/>
          <a:p>
            <a:r>
              <a:rPr lang="zh-CN" altLang="en-US">
                <a:solidFill>
                  <a:schemeClr val="accent1"/>
                </a:solidFill>
              </a:rPr>
              <a:t>功能</a:t>
            </a:r>
            <a:endParaRPr lang="zh-CN" altLang="en-US">
              <a:solidFill>
                <a:schemeClr val="accent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r>
              <a:rPr lang="en-US"/>
              <a:t>1.</a:t>
            </a:r>
            <a:r>
              <a:rPr lang="zh-CN" altLang="en-US"/>
              <a:t>拍照</a:t>
            </a:r>
            <a:endParaRPr lang="zh-CN" altLang="en-US"/>
          </a:p>
          <a:p>
            <a:r>
              <a:rPr lang="en-US" altLang="zh-CN"/>
              <a:t>2.</a:t>
            </a:r>
            <a:r>
              <a:rPr lang="zh-CN" altLang="en-US"/>
              <a:t>智能抠图</a:t>
            </a:r>
            <a:r>
              <a:rPr lang="en-US" altLang="zh-CN"/>
              <a:t>，</a:t>
            </a:r>
            <a:r>
              <a:rPr lang="zh-CN" altLang="en-US"/>
              <a:t>截取文字</a:t>
            </a:r>
            <a:r>
              <a:rPr lang="en-US" altLang="zh-CN"/>
              <a:t>。（</a:t>
            </a:r>
            <a:r>
              <a:rPr lang="zh-CN" altLang="en-US"/>
              <a:t>如光线较暗则进行补光</a:t>
            </a:r>
            <a:r>
              <a:rPr lang="en-US" altLang="zh-CN"/>
              <a:t>）</a:t>
            </a:r>
            <a:endParaRPr lang="en-US" altLang="zh-CN"/>
          </a:p>
          <a:p>
            <a:r>
              <a:rPr lang="en-US" altLang="zh-CN"/>
              <a:t>3.</a:t>
            </a:r>
            <a:r>
              <a:rPr lang="zh-CN" altLang="en-US"/>
              <a:t>识别图片中的</a:t>
            </a:r>
            <a:r>
              <a:rPr lang="zh-CN" altLang="en-US"/>
              <a:t>文字</a:t>
            </a:r>
            <a:endParaRPr lang="zh-CN" altLang="en-US"/>
          </a:p>
          <a:p>
            <a:r>
              <a:rPr lang="en-US" altLang="zh-CN"/>
              <a:t>4.</a:t>
            </a:r>
            <a:r>
              <a:rPr lang="zh-CN" altLang="en-US"/>
              <a:t>用普通话读出识别到的</a:t>
            </a:r>
            <a:r>
              <a:rPr lang="zh-CN" altLang="en-US"/>
              <a:t>文字</a:t>
            </a:r>
            <a:endParaRPr lang="zh-CN" altLang="en-US"/>
          </a:p>
          <a:p>
            <a:pPr marL="0" indent="0">
              <a:buNone/>
            </a:pPr>
            <a:endParaRPr lang="zh-CN" altLang="en-US"/>
          </a:p>
        </p:txBody>
      </p:sp>
    </p:spTree>
    <p:custDataLst>
      <p:tags r:id="rId3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zh-CN" altLang="en-US">
                <a:solidFill>
                  <a:schemeClr val="accent1"/>
                </a:solidFill>
              </a:rPr>
              <a:t>按键</a:t>
            </a:r>
            <a:endParaRPr lang="zh-CN" altLang="en-US">
              <a:solidFill>
                <a:schemeClr val="accent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r>
              <a:rPr lang="zh-CN" altLang="en-US"/>
              <a:t>推拉式</a:t>
            </a:r>
            <a:r>
              <a:rPr lang="zh-CN" altLang="en-US"/>
              <a:t>开关键</a:t>
            </a:r>
            <a:endParaRPr lang="zh-CN" altLang="en-US"/>
          </a:p>
          <a:p>
            <a:r>
              <a:rPr lang="zh-CN" altLang="en-US"/>
              <a:t>音量键</a:t>
            </a:r>
            <a:r>
              <a:rPr lang="en-US" altLang="zh-CN"/>
              <a:t>（</a:t>
            </a:r>
            <a:r>
              <a:rPr lang="zh-CN" altLang="en-US"/>
              <a:t>调大</a:t>
            </a:r>
            <a:r>
              <a:rPr lang="en-US" altLang="zh-CN"/>
              <a:t>，</a:t>
            </a:r>
            <a:r>
              <a:rPr lang="zh-CN" altLang="en-US"/>
              <a:t>调小</a:t>
            </a:r>
            <a:r>
              <a:rPr lang="en-US" altLang="zh-CN"/>
              <a:t>）</a:t>
            </a:r>
            <a:endParaRPr lang="en-US" altLang="zh-CN"/>
          </a:p>
          <a:p>
            <a:r>
              <a:rPr lang="zh-CN" altLang="en-US"/>
              <a:t>拍照</a:t>
            </a:r>
            <a:r>
              <a:rPr lang="zh-CN" altLang="en-US"/>
              <a:t>键</a:t>
            </a:r>
            <a:endParaRPr lang="zh-CN" altLang="en-US"/>
          </a:p>
          <a:p>
            <a:pPr marL="0" indent="0">
              <a:buNone/>
            </a:pPr>
            <a:endParaRPr lang="zh-CN" altLang="en-US"/>
          </a:p>
        </p:txBody>
      </p:sp>
    </p:spTree>
    <p:custDataLst>
      <p:tags r:id="rId3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zh-CN" altLang="en-US">
                <a:solidFill>
                  <a:schemeClr val="accent1"/>
                </a:solidFill>
              </a:rPr>
              <a:t>目标</a:t>
            </a:r>
            <a:endParaRPr lang="zh-CN" altLang="en-US">
              <a:solidFill>
                <a:schemeClr val="accent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r>
              <a:rPr lang="zh-CN" altLang="en-US"/>
              <a:t>文字识别</a:t>
            </a:r>
            <a:r>
              <a:rPr lang="zh-CN" altLang="en-US"/>
              <a:t>准确率高</a:t>
            </a:r>
            <a:endParaRPr lang="zh-CN" altLang="en-US"/>
          </a:p>
          <a:p>
            <a:r>
              <a:rPr lang="zh-CN" altLang="en-US"/>
              <a:t>语音播报音量足够且普通话</a:t>
            </a:r>
            <a:r>
              <a:rPr lang="zh-CN" altLang="en-US"/>
              <a:t>清楚</a:t>
            </a:r>
            <a:endParaRPr lang="zh-CN" altLang="en-US"/>
          </a:p>
          <a:p>
            <a:r>
              <a:rPr lang="zh-CN" altLang="en-US"/>
              <a:t>按键布局简单</a:t>
            </a:r>
            <a:r>
              <a:rPr lang="en-US" altLang="zh-CN"/>
              <a:t>，</a:t>
            </a:r>
            <a:r>
              <a:rPr lang="zh-CN" altLang="en-US"/>
              <a:t>一键启动</a:t>
            </a:r>
            <a:r>
              <a:rPr lang="en-US" altLang="zh-CN"/>
              <a:t>，</a:t>
            </a:r>
            <a:r>
              <a:rPr lang="zh-CN" altLang="en-US"/>
              <a:t>一键拍照</a:t>
            </a:r>
            <a:r>
              <a:rPr lang="en-US" altLang="zh-CN"/>
              <a:t>，</a:t>
            </a:r>
            <a:r>
              <a:rPr lang="zh-CN" altLang="en-US"/>
              <a:t>拍照自动</a:t>
            </a:r>
            <a:r>
              <a:rPr lang="zh-CN" altLang="en-US"/>
              <a:t>语音播报</a:t>
            </a:r>
            <a:endParaRPr lang="zh-CN" altLang="en-US"/>
          </a:p>
          <a:p>
            <a:r>
              <a:rPr lang="zh-CN" altLang="en-US"/>
              <a:t>配有充电插座</a:t>
            </a:r>
            <a:r>
              <a:rPr lang="en-US" altLang="zh-CN"/>
              <a:t>，</a:t>
            </a:r>
            <a:r>
              <a:rPr lang="zh-CN" altLang="en-US"/>
              <a:t>放上即可开始</a:t>
            </a:r>
            <a:r>
              <a:rPr lang="zh-CN" altLang="en-US"/>
              <a:t>充电</a:t>
            </a:r>
            <a:endParaRPr lang="zh-CN" altLang="en-US"/>
          </a:p>
          <a:p>
            <a:r>
              <a:rPr lang="zh-CN" altLang="en-US"/>
              <a:t>体积小巧</a:t>
            </a:r>
            <a:r>
              <a:rPr lang="en-US" altLang="zh-CN"/>
              <a:t>，</a:t>
            </a:r>
            <a:r>
              <a:rPr lang="zh-CN" altLang="en-US"/>
              <a:t>重量轻</a:t>
            </a:r>
            <a:r>
              <a:rPr lang="en-US" altLang="zh-CN"/>
              <a:t>，</a:t>
            </a:r>
            <a:r>
              <a:rPr lang="zh-CN" altLang="en-US"/>
              <a:t>方便手持</a:t>
            </a:r>
            <a:endParaRPr lang="zh-CN" altLang="en-US"/>
          </a:p>
        </p:txBody>
      </p:sp>
    </p:spTree>
    <p:custDataLst>
      <p:tags r:id="rId3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Rectangle 3"/>
          <p:cNvSpPr/>
          <p:nvPr/>
        </p:nvSpPr>
        <p:spPr>
          <a:xfrm>
            <a:off x="2945765" y="1316355"/>
            <a:ext cx="6287135" cy="381190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5676900" y="2085340"/>
            <a:ext cx="2374265" cy="113728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>
                <a:solidFill>
                  <a:schemeClr val="tx1"/>
                </a:solidFill>
              </a:rPr>
              <a:t>Pi Zero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6690995" y="4074795"/>
            <a:ext cx="1995805" cy="104775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>
                <a:solidFill>
                  <a:schemeClr val="tx1"/>
                </a:solidFill>
              </a:rPr>
              <a:t>Mic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2945765" y="2815590"/>
            <a:ext cx="323215" cy="824865"/>
          </a:xfrm>
          <a:prstGeom prst="rect">
            <a:avLst/>
          </a:prstGeom>
          <a:solidFill>
            <a:schemeClr val="bg1"/>
          </a:solidFill>
          <a:ln w="12700" cap="flat" cmpd="sng">
            <a:solidFill>
              <a:schemeClr val="tx1"/>
            </a:solidFill>
            <a:prstDash val="solid"/>
            <a:miter lim="800000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2834640" y="2994025"/>
            <a:ext cx="111125" cy="40132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2759075" y="3105150"/>
            <a:ext cx="75565" cy="189865"/>
          </a:xfrm>
          <a:prstGeom prst="rect">
            <a:avLst/>
          </a:prstGeom>
          <a:solidFill>
            <a:srgbClr val="FAFAFA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2941320" y="2237105"/>
            <a:ext cx="217170" cy="466090"/>
          </a:xfrm>
          <a:prstGeom prst="rect">
            <a:avLst/>
          </a:prstGeom>
          <a:solidFill>
            <a:srgbClr val="FAFAFA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2861310" y="2381885"/>
            <a:ext cx="75565" cy="182245"/>
          </a:xfrm>
          <a:prstGeom prst="rect">
            <a:avLst/>
          </a:prstGeom>
          <a:solidFill>
            <a:srgbClr val="FAFAFA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cxnSp>
        <p:nvCxnSpPr>
          <p:cNvPr id="13" name="Straight Arrow Connector 12"/>
          <p:cNvCxnSpPr/>
          <p:nvPr/>
        </p:nvCxnSpPr>
        <p:spPr>
          <a:xfrm flipH="1">
            <a:off x="2393315" y="3240405"/>
            <a:ext cx="721360" cy="0"/>
          </a:xfrm>
          <a:prstGeom prst="straightConnector1">
            <a:avLst/>
          </a:prstGeom>
          <a:ln w="12700" cmpd="sng">
            <a:solidFill>
              <a:schemeClr val="accent1">
                <a:shade val="50000"/>
              </a:schemeClr>
            </a:solidFill>
            <a:prstDash val="solid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5" name="Text Box 14"/>
          <p:cNvSpPr txBox="1"/>
          <p:nvPr/>
        </p:nvSpPr>
        <p:spPr>
          <a:xfrm>
            <a:off x="1407160" y="3105150"/>
            <a:ext cx="1110615" cy="3848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/>
              <a:t>Camera</a:t>
            </a:r>
            <a:endParaRPr lang="en-US"/>
          </a:p>
        </p:txBody>
      </p:sp>
      <p:cxnSp>
        <p:nvCxnSpPr>
          <p:cNvPr id="16" name="Straight Arrow Connector 15"/>
          <p:cNvCxnSpPr>
            <a:stCxn id="10" idx="3"/>
          </p:cNvCxnSpPr>
          <p:nvPr/>
        </p:nvCxnSpPr>
        <p:spPr>
          <a:xfrm flipH="1">
            <a:off x="2439670" y="2470150"/>
            <a:ext cx="718820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7" name="Text Box 16"/>
          <p:cNvSpPr txBox="1"/>
          <p:nvPr/>
        </p:nvSpPr>
        <p:spPr>
          <a:xfrm>
            <a:off x="1735455" y="2334895"/>
            <a:ext cx="120142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/>
              <a:t>Flash</a:t>
            </a:r>
            <a:endParaRPr lang="en-US"/>
          </a:p>
        </p:txBody>
      </p:sp>
    </p:spTree>
    <p:custDataLst>
      <p:tags r:id="rId1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5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1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4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5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208</Words>
  <Application>WPS Writer</Application>
  <PresentationFormat>宽屏</PresentationFormat>
  <Paragraphs>35</Paragraphs>
  <Slides>6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6" baseType="lpstr">
      <vt:lpstr>Arial</vt:lpstr>
      <vt:lpstr>SimSun</vt:lpstr>
      <vt:lpstr>Wingdings</vt:lpstr>
      <vt:lpstr>Wingdings</vt:lpstr>
      <vt:lpstr>汉仪书宋二KW</vt:lpstr>
      <vt:lpstr>苹方-简</vt:lpstr>
      <vt:lpstr>Microsoft YaHei</vt:lpstr>
      <vt:lpstr>汉仪旗黑</vt:lpstr>
      <vt:lpstr>Arial Unicode MS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李恩泽</cp:lastModifiedBy>
  <cp:revision>165</cp:revision>
  <dcterms:created xsi:type="dcterms:W3CDTF">2026-10-24T02:24:38Z</dcterms:created>
  <dcterms:modified xsi:type="dcterms:W3CDTF">2026-10-24T02:24:38Z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1033-12.1.24031.24031</vt:lpwstr>
  </property>
  <property fmtid="{D5CDD505-2E9C-101B-9397-08002B2CF9AE}" pid="3" name="ICV">
    <vt:lpwstr>B6B5C0B593F73F0E6C0CDC6AECB1A258_41</vt:lpwstr>
  </property>
</Properties>
</file>